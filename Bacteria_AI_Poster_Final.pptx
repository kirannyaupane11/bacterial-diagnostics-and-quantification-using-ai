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16459200"/>
  <p:notesSz cx="164592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734"/>
    <p:restoredTop sz="94610"/>
  </p:normalViewPr>
  <p:slideViewPr>
    <p:cSldViewPr snapToGrid="0" snapToObjects="1">
      <p:cViewPr>
        <p:scale>
          <a:sx n="114" d="100"/>
          <a:sy n="114" d="100"/>
        </p:scale>
        <p:origin x="-5128" y="-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5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2637"/>
            <a:ext cx="32918400" cy="1874520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918400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749040" cy="18745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" y="45720"/>
            <a:ext cx="3657600" cy="18884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Bradford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9169360" y="0"/>
            <a:ext cx="3749040" cy="18745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169360" y="0"/>
            <a:ext cx="3749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31920" y="91440"/>
            <a:ext cx="2505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in Bacterial Diagnostics and Quantification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931920" y="1234440"/>
            <a:ext cx="2505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EP7 Group: Kiran Nyaupane  ·  Bandika Dhital  ·  Jenish Dani</a:t>
            </a:r>
            <a:r>
              <a:rPr lang="en-US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|     Supervisor: Dr Kulvinder Panesar     |     Client: Dr Maria Katsikogianni     |     COS6032-E, University of Bradford</a:t>
            </a:r>
            <a:endParaRPr lang="en-US" b="1" dirty="0"/>
          </a:p>
        </p:txBody>
      </p:sp>
      <p:sp>
        <p:nvSpPr>
          <p:cNvPr id="10" name="Shape 8"/>
          <p:cNvSpPr/>
          <p:nvPr/>
        </p:nvSpPr>
        <p:spPr>
          <a:xfrm>
            <a:off x="0" y="1874520"/>
            <a:ext cx="32918400" cy="82296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5176" y="1993392"/>
            <a:ext cx="8951976" cy="5212080"/>
          </a:xfrm>
          <a:prstGeom prst="rect">
            <a:avLst/>
          </a:prstGeom>
          <a:solidFill>
            <a:srgbClr val="E3E5EA"/>
          </a:solidFill>
          <a:ln w="508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5176" y="1993392"/>
            <a:ext cx="8951976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" y="1993392"/>
            <a:ext cx="880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and Problem Context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9768" y="2560320"/>
            <a:ext cx="86227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Bacterial infections, especially those caused by </a:t>
            </a:r>
            <a:r>
              <a:rPr lang="en-US" sz="1600" b="1" i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Staphylococcus aureus</a:t>
            </a: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remain a critical global health challenge — particularly in low- and middle-income countries (LMICs). Traditional diagnostic methods such as culture-based microscopy are slow, error-prone, and require specialist expertise, contributing to delayed treatment and accelerating antimicrobial resistance (AMR).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4074544"/>
            <a:ext cx="8622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delivers an </a:t>
            </a:r>
            <a:r>
              <a:rPr lang="en-US" sz="16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automated pipeline</a:t>
            </a: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bacterial detection, segmentation, and quantification from fluorescence microscopy images — enabling faster and more reliable diagnostics without specialist input.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" y="5072690"/>
            <a:ext cx="869594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&amp; Objectives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3192" y="5358384"/>
            <a:ext cx="8622792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 fluorescence microscopy images for deep learning model training</a:t>
            </a:r>
            <a:endParaRPr lang="en-US" sz="16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U-Net segmentation model for pixel-level bacteria detection</a:t>
            </a:r>
            <a:endParaRPr lang="en-US" sz="16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using Dice, IoU, Precision, and Recall on unseen test images</a:t>
            </a:r>
            <a:endParaRPr lang="en-US" sz="16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Watershed algorithm for accurate individual cell counting</a:t>
            </a:r>
            <a:endParaRPr lang="en-US" sz="16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an interactive Streamlit dashboard for real-time demonstration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176" y="7278624"/>
            <a:ext cx="8951976" cy="3566160"/>
          </a:xfrm>
          <a:prstGeom prst="rect">
            <a:avLst/>
          </a:prstGeom>
          <a:solidFill>
            <a:srgbClr val="E3E5EA"/>
          </a:solidFill>
          <a:ln w="508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65176" y="7278624"/>
            <a:ext cx="8951976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4904" y="7278624"/>
            <a:ext cx="880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CDIO, Conceive and Agile PM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3761" y="7735824"/>
            <a:ext cx="86227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follows the </a:t>
            </a:r>
            <a:r>
              <a:rPr lang="en-US" sz="155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CDIO framework</a:t>
            </a: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(Conceive–Design–Implement–Operate) delivered through Agile Scrum with 5 sprints and continuous supervisor review.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374904" y="8375904"/>
            <a:ext cx="8732520" cy="1335024"/>
          </a:xfrm>
          <a:prstGeom prst="rect">
            <a:avLst/>
          </a:prstGeom>
          <a:solidFill>
            <a:srgbClr val="DEEAF1"/>
          </a:solidFill>
          <a:ln w="1016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4904" y="8375904"/>
            <a:ext cx="219456" cy="13350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" y="8375904"/>
            <a:ext cx="129844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47672" y="8449056"/>
            <a:ext cx="703173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6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the clinical problem: slow manual bacterial microscopy in LMICs. Conducted background research and literature review (U-Net, bacterial imaging, AMR). Held client kick-off meeting with Dr Maria Katsikogianni to confirm dataset, scope, and success criteria (Dice ≥ 0.80). Defined team roles: Kiran (Model Dev), Bandika (Data Eng.), Jenish (Evaluation).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74904" y="9802368"/>
            <a:ext cx="8732520" cy="1335024"/>
          </a:xfrm>
          <a:prstGeom prst="rect">
            <a:avLst/>
          </a:prstGeom>
          <a:solidFill>
            <a:srgbClr val="E2EFDA"/>
          </a:solidFill>
          <a:ln w="1016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4904" y="9802368"/>
            <a:ext cx="219456" cy="13350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" y="9802368"/>
            <a:ext cx="129844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947672" y="9875520"/>
            <a:ext cx="703173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6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the full data preprocessing pipeline (resize 256×256, normalise [0,1], binarise masks). Selected U-Net encoder-decoder architecture with skip connections based on literature review. Planned combined Dice+BCE loss function. Defined evaluation metrics and train/val/test split strategy. Structured Agile sprint plan with 24-item Product Backlog.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74904" y="11228832"/>
            <a:ext cx="8732520" cy="1335024"/>
          </a:xfrm>
          <a:prstGeom prst="rect">
            <a:avLst/>
          </a:prstGeom>
          <a:solidFill>
            <a:srgbClr val="FCE4D6"/>
          </a:solidFill>
          <a:ln w="1016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74904" y="11228832"/>
            <a:ext cx="219456" cy="1335024"/>
          </a:xfrm>
          <a:prstGeom prst="rect">
            <a:avLst/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2647" y="11228832"/>
            <a:ext cx="140499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947672" y="11301984"/>
            <a:ext cx="703173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6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5-point data cleaning pipeline — zero corrupt/missing files. Augmented 28 → 84 samples (horizontal + vertical flip). Built U-Net in TensorFlow/Keras (1,940,817 parameters). Trained 150 epochs with ModelCheckpoint, EarlyStopping (patience=20), ReduceLROnPlateau. Best val Dice = 0.8235 at epoch 90. Watershed counting: 78% error reduction (64→14).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374904" y="12655296"/>
            <a:ext cx="8732520" cy="1335024"/>
          </a:xfrm>
          <a:prstGeom prst="rect">
            <a:avLst/>
          </a:prstGeom>
          <a:solidFill>
            <a:srgbClr val="FCE4CD"/>
          </a:solidFill>
          <a:ln w="1016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74904" y="12655296"/>
            <a:ext cx="219456" cy="133502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2648" y="12655296"/>
            <a:ext cx="129844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947672" y="12728448"/>
            <a:ext cx="703173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6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on 5 unseen test images: Dice 81.1%, IoU 68.2%, Precision 76.9%, Recall 83.3%. Deployed Streamlit dashboard with image upload, segmentation overlay, bacteria count, and export (JSON/CSV/PNG). Launched live exhibition URL via localtunnel. Presented full working system on 21 April 2026.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93192" y="14136624"/>
            <a:ext cx="869594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PM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265176" y="14421450"/>
            <a:ext cx="86227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Sprints  |  111 total story points  |  Oct 2025 – Apr 2026</a:t>
            </a:r>
            <a:endParaRPr lang="en-US" sz="155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Kiran (ScrumMaster/Model)  ·  Bandika (Data Engineering)  ·  Jenish (Testing &amp; Eval)</a:t>
            </a:r>
            <a:endParaRPr lang="en-US" sz="155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standups  ·  Sprint reviews with Dr Panesar  ·  Monthly client check-ins</a:t>
            </a:r>
            <a:endParaRPr lang="en-US" sz="155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version control  ·  Google Drive shared storage  ·  MoSCoW prioritised backlog</a:t>
            </a:r>
            <a:endParaRPr lang="en-US" sz="155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Done: code committed, cell runs without error, output verified, blog entry made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15142464" y="1993392"/>
            <a:ext cx="0" cy="8851392"/>
          </a:xfrm>
          <a:prstGeom prst="line">
            <a:avLst/>
          </a:prstGeom>
          <a:noFill/>
          <a:ln w="508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1012912" y="1993392"/>
            <a:ext cx="0" cy="8851392"/>
          </a:xfrm>
          <a:prstGeom prst="line">
            <a:avLst/>
          </a:prstGeom>
          <a:noFill/>
          <a:ln w="508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6883360" y="1993392"/>
            <a:ext cx="0" cy="8851392"/>
          </a:xfrm>
          <a:prstGeom prst="line">
            <a:avLst/>
          </a:prstGeom>
          <a:noFill/>
          <a:ln w="508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326880" y="10881360"/>
            <a:ext cx="23426928" cy="731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418320" y="1993392"/>
            <a:ext cx="557784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528048" y="1993392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9436608" y="2560320"/>
            <a:ext cx="1385316" cy="713232"/>
          </a:xfrm>
          <a:prstGeom prst="rect">
            <a:avLst/>
          </a:prstGeom>
          <a:solidFill>
            <a:srgbClr val="E3E5EA"/>
          </a:solidFill>
          <a:ln w="762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436608" y="2560320"/>
            <a:ext cx="1385316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
</a:t>
            </a: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Patches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840212" y="2560320"/>
            <a:ext cx="1385316" cy="713232"/>
          </a:xfrm>
          <a:prstGeom prst="rect">
            <a:avLst/>
          </a:prstGeom>
          <a:solidFill>
            <a:srgbClr val="E3E5EA"/>
          </a:solidFill>
          <a:ln w="762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840212" y="2560320"/>
            <a:ext cx="1385316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
</a:t>
            </a: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243816" y="2560320"/>
            <a:ext cx="1385316" cy="713232"/>
          </a:xfrm>
          <a:prstGeom prst="rect">
            <a:avLst/>
          </a:prstGeom>
          <a:solidFill>
            <a:srgbClr val="E3E5EA"/>
          </a:solidFill>
          <a:ln w="762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2243816" y="2560320"/>
            <a:ext cx="1385316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
</a:t>
            </a: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Augment.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3647420" y="2560320"/>
            <a:ext cx="1385316" cy="713232"/>
          </a:xfrm>
          <a:prstGeom prst="rect">
            <a:avLst/>
          </a:prstGeom>
          <a:solidFill>
            <a:srgbClr val="E3E5EA"/>
          </a:solidFill>
          <a:ln w="762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3647420" y="2560320"/>
            <a:ext cx="1385316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67/17
</a:t>
            </a: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Train/Val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(80/20)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9491472" y="3346704"/>
            <a:ext cx="543153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DeepBacs dataset — S. aureus JE2 strain, Nile Red fluorescent dye</a:t>
            </a:r>
            <a:endParaRPr lang="en-US" sz="155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5-point cleaning: integrity · mask match · empty · size · corrupt</a:t>
            </a:r>
            <a:endParaRPr lang="en-US" sz="155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Preprocessing: greyscale → 256×256 → normalise [0,1] → binarise masks {0,1}</a:t>
            </a:r>
            <a:endParaRPr lang="en-US" sz="155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Augmentation: horizontal + vertical flip (3× dataset expansion)</a:t>
            </a:r>
            <a:endParaRPr lang="en-US" sz="1550" dirty="0"/>
          </a:p>
        </p:txBody>
      </p:sp>
      <p:sp>
        <p:nvSpPr>
          <p:cNvPr id="55" name="Shape 53"/>
          <p:cNvSpPr/>
          <p:nvPr/>
        </p:nvSpPr>
        <p:spPr>
          <a:xfrm>
            <a:off x="9436607" y="5747004"/>
            <a:ext cx="557784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564624" y="5747004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Microscopy Images</a:t>
            </a:r>
            <a:endParaRPr lang="en-US" sz="2000" dirty="0"/>
          </a:p>
        </p:txBody>
      </p:sp>
      <p:sp>
        <p:nvSpPr>
          <p:cNvPr id="58" name="Text 55"/>
          <p:cNvSpPr/>
          <p:nvPr/>
        </p:nvSpPr>
        <p:spPr>
          <a:xfrm>
            <a:off x="9381745" y="8436667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DeepBacs dataset  |  Brightfield image (left)  |  Expert-annotated binary segmentation mask (right)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9418320" y="8906256"/>
            <a:ext cx="557784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9436607" y="8906256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Pipeline</a:t>
            </a:r>
            <a:endParaRPr lang="en-US" sz="2000" dirty="0"/>
          </a:p>
        </p:txBody>
      </p:sp>
      <p:sp>
        <p:nvSpPr>
          <p:cNvPr id="61" name="Shape 58"/>
          <p:cNvSpPr/>
          <p:nvPr/>
        </p:nvSpPr>
        <p:spPr>
          <a:xfrm>
            <a:off x="9363456" y="9573768"/>
            <a:ext cx="715518" cy="713232"/>
          </a:xfrm>
          <a:prstGeom prst="rect">
            <a:avLst/>
          </a:prstGeom>
          <a:solidFill>
            <a:srgbClr val="E3E5EA"/>
          </a:solidFill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9264015" y="9564624"/>
            <a:ext cx="93497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Fluorescence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10078974" y="9930384"/>
            <a:ext cx="36576" cy="0"/>
          </a:xfrm>
          <a:prstGeom prst="line">
            <a:avLst/>
          </a:prstGeom>
          <a:noFill/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10115550" y="9573768"/>
            <a:ext cx="660654" cy="713232"/>
          </a:xfrm>
          <a:prstGeom prst="rect">
            <a:avLst/>
          </a:prstGeom>
          <a:solidFill>
            <a:srgbClr val="DEEAF1"/>
          </a:solidFill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10115550" y="9573768"/>
            <a:ext cx="66065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5-Point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10776204" y="9930384"/>
            <a:ext cx="36576" cy="0"/>
          </a:xfrm>
          <a:prstGeom prst="line">
            <a:avLst/>
          </a:prstGeom>
          <a:noFill/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10812780" y="9573768"/>
            <a:ext cx="660654" cy="713232"/>
          </a:xfrm>
          <a:prstGeom prst="rect">
            <a:avLst/>
          </a:prstGeom>
          <a:solidFill>
            <a:srgbClr val="DEEAF1"/>
          </a:solidFill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10812780" y="9573768"/>
            <a:ext cx="66065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256×256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11473434" y="9930384"/>
            <a:ext cx="36576" cy="0"/>
          </a:xfrm>
          <a:prstGeom prst="line">
            <a:avLst/>
          </a:prstGeom>
          <a:noFill/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11510010" y="9573768"/>
            <a:ext cx="660654" cy="713232"/>
          </a:xfrm>
          <a:prstGeom prst="rect">
            <a:avLst/>
          </a:prstGeom>
          <a:solidFill>
            <a:srgbClr val="E2EFDA"/>
          </a:solidFill>
          <a:ln w="762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11510010" y="9573768"/>
            <a:ext cx="66065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9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28→84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12170664" y="9930384"/>
            <a:ext cx="36576" cy="0"/>
          </a:xfrm>
          <a:prstGeom prst="line">
            <a:avLst/>
          </a:prstGeom>
          <a:noFill/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12207240" y="9573768"/>
            <a:ext cx="660654" cy="713232"/>
          </a:xfrm>
          <a:prstGeom prst="rect">
            <a:avLst/>
          </a:prstGeom>
          <a:solidFill>
            <a:srgbClr val="FCE4D6"/>
          </a:solidFill>
          <a:ln w="762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12207240" y="9573768"/>
            <a:ext cx="66065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12867894" y="9930384"/>
            <a:ext cx="36576" cy="0"/>
          </a:xfrm>
          <a:prstGeom prst="line">
            <a:avLst/>
          </a:prstGeom>
          <a:noFill/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12904470" y="9573768"/>
            <a:ext cx="660654" cy="713232"/>
          </a:xfrm>
          <a:prstGeom prst="rect">
            <a:avLst/>
          </a:prstGeom>
          <a:solidFill>
            <a:srgbClr val="FCE4D6"/>
          </a:solidFill>
          <a:ln w="762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12831318" y="9577464"/>
            <a:ext cx="78867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930" dirty="0"/>
          </a:p>
        </p:txBody>
      </p:sp>
      <p:sp>
        <p:nvSpPr>
          <p:cNvPr id="78" name="Shape 75"/>
          <p:cNvSpPr/>
          <p:nvPr/>
        </p:nvSpPr>
        <p:spPr>
          <a:xfrm>
            <a:off x="13565124" y="9930384"/>
            <a:ext cx="36576" cy="0"/>
          </a:xfrm>
          <a:prstGeom prst="line">
            <a:avLst/>
          </a:prstGeom>
          <a:noFill/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13601700" y="9573768"/>
            <a:ext cx="660654" cy="713232"/>
          </a:xfrm>
          <a:prstGeom prst="rect">
            <a:avLst/>
          </a:prstGeom>
          <a:solidFill>
            <a:srgbClr val="FCE4CD"/>
          </a:solidFill>
          <a:ln w="762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13514832" y="9573768"/>
            <a:ext cx="83439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Watershed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14262354" y="9930384"/>
            <a:ext cx="36576" cy="0"/>
          </a:xfrm>
          <a:prstGeom prst="line">
            <a:avLst/>
          </a:prstGeom>
          <a:noFill/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14298930" y="9573768"/>
            <a:ext cx="660654" cy="713232"/>
          </a:xfrm>
          <a:prstGeom prst="rect">
            <a:avLst/>
          </a:prstGeom>
          <a:solidFill>
            <a:srgbClr val="FCE4CD"/>
          </a:solidFill>
          <a:ln w="762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14244066" y="9565075"/>
            <a:ext cx="78867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Export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15288768" y="2002759"/>
            <a:ext cx="5577840" cy="319817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15361920" y="1915668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000" dirty="0"/>
          </a:p>
        </p:txBody>
      </p:sp>
      <p:sp>
        <p:nvSpPr>
          <p:cNvPr id="86" name="Text 83"/>
          <p:cNvSpPr/>
          <p:nvPr/>
        </p:nvSpPr>
        <p:spPr>
          <a:xfrm>
            <a:off x="15215615" y="2303557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25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 architecture</a:t>
            </a: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 selected for proven biomedical segmentation performance and effectiveness on small datasets. It features an encoder (contracting), decoder (expanding), and skip connections that preserve spatial detail for precise mask prediction</a:t>
            </a:r>
            <a:r>
              <a:rPr lang="en-US" sz="15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50" dirty="0"/>
          </a:p>
        </p:txBody>
      </p:sp>
      <p:sp>
        <p:nvSpPr>
          <p:cNvPr id="87" name="Shape 84"/>
          <p:cNvSpPr/>
          <p:nvPr/>
        </p:nvSpPr>
        <p:spPr>
          <a:xfrm>
            <a:off x="15297913" y="3406363"/>
            <a:ext cx="5559551" cy="342677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15325344" y="3324067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 Architecture</a:t>
            </a:r>
            <a:endParaRPr lang="en-US" dirty="0"/>
          </a:p>
        </p:txBody>
      </p:sp>
      <p:pic>
        <p:nvPicPr>
          <p:cNvPr id="89" name="Image 1" descr="/home/claude/pi2/une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16785" y="3749041"/>
            <a:ext cx="5468101" cy="1856232"/>
          </a:xfrm>
          <a:prstGeom prst="rect">
            <a:avLst/>
          </a:prstGeom>
        </p:spPr>
      </p:pic>
      <p:sp>
        <p:nvSpPr>
          <p:cNvPr id="90" name="Shape 86"/>
          <p:cNvSpPr/>
          <p:nvPr/>
        </p:nvSpPr>
        <p:spPr>
          <a:xfrm>
            <a:off x="15288768" y="5650992"/>
            <a:ext cx="5577840" cy="420624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7"/>
          <p:cNvSpPr/>
          <p:nvPr/>
        </p:nvSpPr>
        <p:spPr>
          <a:xfrm>
            <a:off x="15343632" y="56509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92" name="Text 88"/>
          <p:cNvSpPr/>
          <p:nvPr/>
        </p:nvSpPr>
        <p:spPr>
          <a:xfrm>
            <a:off x="16952976" y="5650992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× 256 × 1  (single-channel greyscale)</a:t>
            </a:r>
            <a:endParaRPr lang="en-US" sz="1300" dirty="0"/>
          </a:p>
        </p:txBody>
      </p:sp>
      <p:sp>
        <p:nvSpPr>
          <p:cNvPr id="93" name="Shape 89"/>
          <p:cNvSpPr/>
          <p:nvPr/>
        </p:nvSpPr>
        <p:spPr>
          <a:xfrm>
            <a:off x="15288768" y="6071616"/>
            <a:ext cx="55778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0"/>
          <p:cNvSpPr/>
          <p:nvPr/>
        </p:nvSpPr>
        <p:spPr>
          <a:xfrm>
            <a:off x="15343632" y="60716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95" name="Text 91"/>
          <p:cNvSpPr/>
          <p:nvPr/>
        </p:nvSpPr>
        <p:spPr>
          <a:xfrm>
            <a:off x="16952976" y="6071616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blocks: 16→32→64→128 filters + MaxPool + Dropout</a:t>
            </a:r>
            <a:endParaRPr lang="en-US" sz="1300" dirty="0"/>
          </a:p>
        </p:txBody>
      </p:sp>
      <p:sp>
        <p:nvSpPr>
          <p:cNvPr id="96" name="Shape 92"/>
          <p:cNvSpPr/>
          <p:nvPr/>
        </p:nvSpPr>
        <p:spPr>
          <a:xfrm>
            <a:off x="15288768" y="6492240"/>
            <a:ext cx="5577840" cy="420624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3"/>
          <p:cNvSpPr/>
          <p:nvPr/>
        </p:nvSpPr>
        <p:spPr>
          <a:xfrm>
            <a:off x="15343632" y="64922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</a:t>
            </a:r>
            <a:endParaRPr lang="en-US" sz="1300" dirty="0"/>
          </a:p>
        </p:txBody>
      </p:sp>
      <p:sp>
        <p:nvSpPr>
          <p:cNvPr id="98" name="Text 94"/>
          <p:cNvSpPr/>
          <p:nvPr/>
        </p:nvSpPr>
        <p:spPr>
          <a:xfrm>
            <a:off x="16952976" y="6492240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filters — deepest compressed representation</a:t>
            </a:r>
            <a:endParaRPr lang="en-US" sz="1300" dirty="0"/>
          </a:p>
        </p:txBody>
      </p:sp>
      <p:sp>
        <p:nvSpPr>
          <p:cNvPr id="99" name="Shape 95"/>
          <p:cNvSpPr/>
          <p:nvPr/>
        </p:nvSpPr>
        <p:spPr>
          <a:xfrm>
            <a:off x="15288768" y="6912864"/>
            <a:ext cx="55778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6"/>
          <p:cNvSpPr/>
          <p:nvPr/>
        </p:nvSpPr>
        <p:spPr>
          <a:xfrm>
            <a:off x="15343632" y="69128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01" name="Text 97"/>
          <p:cNvSpPr/>
          <p:nvPr/>
        </p:nvSpPr>
        <p:spPr>
          <a:xfrm>
            <a:off x="16952976" y="6912864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blocks: Conv2DTranspose + skip connection concatenation</a:t>
            </a:r>
            <a:endParaRPr lang="en-US" sz="1300" dirty="0"/>
          </a:p>
        </p:txBody>
      </p:sp>
      <p:sp>
        <p:nvSpPr>
          <p:cNvPr id="102" name="Shape 98"/>
          <p:cNvSpPr/>
          <p:nvPr/>
        </p:nvSpPr>
        <p:spPr>
          <a:xfrm>
            <a:off x="15288768" y="7333488"/>
            <a:ext cx="5577840" cy="420624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9"/>
          <p:cNvSpPr/>
          <p:nvPr/>
        </p:nvSpPr>
        <p:spPr>
          <a:xfrm>
            <a:off x="15343632" y="73334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Connections</a:t>
            </a:r>
            <a:endParaRPr lang="en-US" sz="1300" dirty="0"/>
          </a:p>
        </p:txBody>
      </p:sp>
      <p:sp>
        <p:nvSpPr>
          <p:cNvPr id="104" name="Text 100"/>
          <p:cNvSpPr/>
          <p:nvPr/>
        </p:nvSpPr>
        <p:spPr>
          <a:xfrm>
            <a:off x="16952976" y="7333488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direct encoder→decoder links — preserve boundary detail</a:t>
            </a:r>
            <a:endParaRPr lang="en-US" sz="1300" dirty="0"/>
          </a:p>
        </p:txBody>
      </p:sp>
      <p:sp>
        <p:nvSpPr>
          <p:cNvPr id="105" name="Shape 101"/>
          <p:cNvSpPr/>
          <p:nvPr/>
        </p:nvSpPr>
        <p:spPr>
          <a:xfrm>
            <a:off x="15288768" y="7754112"/>
            <a:ext cx="55778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2"/>
          <p:cNvSpPr/>
          <p:nvPr/>
        </p:nvSpPr>
        <p:spPr>
          <a:xfrm>
            <a:off x="15343632" y="775411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107" name="Text 103"/>
          <p:cNvSpPr/>
          <p:nvPr/>
        </p:nvSpPr>
        <p:spPr>
          <a:xfrm>
            <a:off x="16952976" y="7754112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Conv2D(1, sigmoid) — per-pixel probability map [0,1]</a:t>
            </a:r>
            <a:endParaRPr lang="en-US" sz="1300" dirty="0"/>
          </a:p>
        </p:txBody>
      </p:sp>
      <p:sp>
        <p:nvSpPr>
          <p:cNvPr id="108" name="Shape 104"/>
          <p:cNvSpPr/>
          <p:nvPr/>
        </p:nvSpPr>
        <p:spPr>
          <a:xfrm>
            <a:off x="15288768" y="8174736"/>
            <a:ext cx="5577840" cy="420624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5"/>
          <p:cNvSpPr/>
          <p:nvPr/>
        </p:nvSpPr>
        <p:spPr>
          <a:xfrm>
            <a:off x="15343632" y="817473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300" dirty="0"/>
          </a:p>
        </p:txBody>
      </p:sp>
      <p:sp>
        <p:nvSpPr>
          <p:cNvPr id="110" name="Text 106"/>
          <p:cNvSpPr/>
          <p:nvPr/>
        </p:nvSpPr>
        <p:spPr>
          <a:xfrm>
            <a:off x="16952976" y="8174736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Loss + Binary Cross-Entropy (combined)</a:t>
            </a:r>
            <a:endParaRPr lang="en-US" sz="1300" dirty="0"/>
          </a:p>
        </p:txBody>
      </p:sp>
      <p:sp>
        <p:nvSpPr>
          <p:cNvPr id="111" name="Shape 107"/>
          <p:cNvSpPr/>
          <p:nvPr/>
        </p:nvSpPr>
        <p:spPr>
          <a:xfrm>
            <a:off x="15288768" y="8595360"/>
            <a:ext cx="55778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08"/>
          <p:cNvSpPr/>
          <p:nvPr/>
        </p:nvSpPr>
        <p:spPr>
          <a:xfrm>
            <a:off x="15343632" y="85953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</a:t>
            </a:r>
            <a:endParaRPr lang="en-US" sz="1300" dirty="0"/>
          </a:p>
        </p:txBody>
      </p:sp>
      <p:sp>
        <p:nvSpPr>
          <p:cNvPr id="113" name="Text 109"/>
          <p:cNvSpPr/>
          <p:nvPr/>
        </p:nvSpPr>
        <p:spPr>
          <a:xfrm>
            <a:off x="16952976" y="8595360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 lr=1e-4  →  ReduceLROnPlateau at epochs 79, 93, 103</a:t>
            </a:r>
            <a:endParaRPr lang="en-US" sz="1300" dirty="0"/>
          </a:p>
        </p:txBody>
      </p:sp>
      <p:sp>
        <p:nvSpPr>
          <p:cNvPr id="114" name="Shape 110"/>
          <p:cNvSpPr/>
          <p:nvPr/>
        </p:nvSpPr>
        <p:spPr>
          <a:xfrm>
            <a:off x="15288768" y="9015984"/>
            <a:ext cx="5577840" cy="420624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1"/>
          <p:cNvSpPr/>
          <p:nvPr/>
        </p:nvSpPr>
        <p:spPr>
          <a:xfrm>
            <a:off x="15343632" y="901598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Callbacks</a:t>
            </a:r>
            <a:endParaRPr lang="en-US" sz="1300" dirty="0"/>
          </a:p>
        </p:txBody>
      </p:sp>
      <p:sp>
        <p:nvSpPr>
          <p:cNvPr id="116" name="Text 112"/>
          <p:cNvSpPr/>
          <p:nvPr/>
        </p:nvSpPr>
        <p:spPr>
          <a:xfrm>
            <a:off x="16952976" y="9015984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ModelCheckpoint  |  EarlyStopping patience=20</a:t>
            </a:r>
            <a:endParaRPr lang="en-US" sz="1300" dirty="0"/>
          </a:p>
        </p:txBody>
      </p:sp>
      <p:sp>
        <p:nvSpPr>
          <p:cNvPr id="117" name="Shape 113"/>
          <p:cNvSpPr/>
          <p:nvPr/>
        </p:nvSpPr>
        <p:spPr>
          <a:xfrm>
            <a:off x="15288768" y="9436608"/>
            <a:ext cx="55778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4"/>
          <p:cNvSpPr/>
          <p:nvPr/>
        </p:nvSpPr>
        <p:spPr>
          <a:xfrm>
            <a:off x="15343632" y="943660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119" name="Text 115"/>
          <p:cNvSpPr/>
          <p:nvPr/>
        </p:nvSpPr>
        <p:spPr>
          <a:xfrm>
            <a:off x="16952976" y="9436608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1,940,817  |  Google Colab T4 GPU  |  ~15 min training</a:t>
            </a:r>
            <a:endParaRPr lang="en-US" sz="1300" dirty="0"/>
          </a:p>
        </p:txBody>
      </p:sp>
      <p:sp>
        <p:nvSpPr>
          <p:cNvPr id="120" name="Text 116"/>
          <p:cNvSpPr/>
          <p:nvPr/>
        </p:nvSpPr>
        <p:spPr>
          <a:xfrm>
            <a:off x="15361920" y="9985248"/>
            <a:ext cx="54315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</a:t>
            </a:r>
            <a:r>
              <a:rPr lang="en-US" sz="14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 checkpoint saved at epoch 90 (val_dice=0.8235). EarlyStopping halted training at epoch 110/150.</a:t>
            </a:r>
            <a:endParaRPr lang="en-US" sz="1450" dirty="0"/>
          </a:p>
        </p:txBody>
      </p:sp>
      <p:sp>
        <p:nvSpPr>
          <p:cNvPr id="121" name="Shape 117"/>
          <p:cNvSpPr/>
          <p:nvPr/>
        </p:nvSpPr>
        <p:spPr>
          <a:xfrm>
            <a:off x="21159216" y="1993392"/>
            <a:ext cx="557784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18"/>
          <p:cNvSpPr/>
          <p:nvPr/>
        </p:nvSpPr>
        <p:spPr>
          <a:xfrm>
            <a:off x="21268944" y="1993392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Evaluation</a:t>
            </a:r>
            <a:endParaRPr lang="en-US" sz="2000" dirty="0"/>
          </a:p>
        </p:txBody>
      </p:sp>
      <p:sp>
        <p:nvSpPr>
          <p:cNvPr id="123" name="Shape 119"/>
          <p:cNvSpPr/>
          <p:nvPr/>
        </p:nvSpPr>
        <p:spPr>
          <a:xfrm>
            <a:off x="21159216" y="2560320"/>
            <a:ext cx="1357884" cy="749808"/>
          </a:xfrm>
          <a:prstGeom prst="rect">
            <a:avLst/>
          </a:prstGeom>
          <a:solidFill>
            <a:srgbClr val="DEEAF1"/>
          </a:solidFill>
          <a:ln w="1016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0"/>
          <p:cNvSpPr/>
          <p:nvPr/>
        </p:nvSpPr>
        <p:spPr>
          <a:xfrm>
            <a:off x="21159216" y="2560320"/>
            <a:ext cx="1357884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81.1%
</a:t>
            </a: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Coefficient</a:t>
            </a:r>
            <a:endParaRPr lang="en-US" sz="2000" dirty="0"/>
          </a:p>
        </p:txBody>
      </p:sp>
      <p:sp>
        <p:nvSpPr>
          <p:cNvPr id="125" name="Shape 121"/>
          <p:cNvSpPr/>
          <p:nvPr/>
        </p:nvSpPr>
        <p:spPr>
          <a:xfrm>
            <a:off x="22553676" y="2560320"/>
            <a:ext cx="1357884" cy="749808"/>
          </a:xfrm>
          <a:prstGeom prst="rect">
            <a:avLst/>
          </a:prstGeom>
          <a:solidFill>
            <a:srgbClr val="E2EFDA"/>
          </a:solidFill>
          <a:ln w="1016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2"/>
          <p:cNvSpPr/>
          <p:nvPr/>
        </p:nvSpPr>
        <p:spPr>
          <a:xfrm>
            <a:off x="22553676" y="2560320"/>
            <a:ext cx="1357884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68.2%
</a:t>
            </a: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 Score</a:t>
            </a:r>
            <a:endParaRPr lang="en-US" sz="2000" dirty="0"/>
          </a:p>
        </p:txBody>
      </p:sp>
      <p:sp>
        <p:nvSpPr>
          <p:cNvPr id="127" name="Shape 123"/>
          <p:cNvSpPr/>
          <p:nvPr/>
        </p:nvSpPr>
        <p:spPr>
          <a:xfrm>
            <a:off x="23948136" y="2560320"/>
            <a:ext cx="1357884" cy="749808"/>
          </a:xfrm>
          <a:prstGeom prst="rect">
            <a:avLst/>
          </a:prstGeom>
          <a:solidFill>
            <a:srgbClr val="EDE7F6"/>
          </a:solidFill>
          <a:ln w="1016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4"/>
          <p:cNvSpPr/>
          <p:nvPr/>
        </p:nvSpPr>
        <p:spPr>
          <a:xfrm>
            <a:off x="23948136" y="2560320"/>
            <a:ext cx="1357884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76.9%
</a:t>
            </a: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2000" dirty="0"/>
          </a:p>
        </p:txBody>
      </p:sp>
      <p:sp>
        <p:nvSpPr>
          <p:cNvPr id="129" name="Shape 125"/>
          <p:cNvSpPr/>
          <p:nvPr/>
        </p:nvSpPr>
        <p:spPr>
          <a:xfrm>
            <a:off x="25342596" y="2560320"/>
            <a:ext cx="1357884" cy="749808"/>
          </a:xfrm>
          <a:prstGeom prst="rect">
            <a:avLst/>
          </a:prstGeom>
          <a:solidFill>
            <a:srgbClr val="FCE4CD"/>
          </a:solidFill>
          <a:ln w="1016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6"/>
          <p:cNvSpPr/>
          <p:nvPr/>
        </p:nvSpPr>
        <p:spPr>
          <a:xfrm>
            <a:off x="25342596" y="2560320"/>
            <a:ext cx="1357884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
</a:t>
            </a: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2000" dirty="0"/>
          </a:p>
        </p:txBody>
      </p:sp>
      <p:pic>
        <p:nvPicPr>
          <p:cNvPr id="131" name="Image 2" descr="/home/claude/pi2/metric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159216" y="3282123"/>
            <a:ext cx="5577840" cy="2029968"/>
          </a:xfrm>
          <a:prstGeom prst="rect">
            <a:avLst/>
          </a:prstGeom>
        </p:spPr>
      </p:pic>
      <p:sp>
        <p:nvSpPr>
          <p:cNvPr id="132" name="Shape 127"/>
          <p:cNvSpPr/>
          <p:nvPr/>
        </p:nvSpPr>
        <p:spPr>
          <a:xfrm>
            <a:off x="21159216" y="5317236"/>
            <a:ext cx="5577840" cy="4297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28"/>
          <p:cNvSpPr/>
          <p:nvPr/>
        </p:nvSpPr>
        <p:spPr>
          <a:xfrm>
            <a:off x="21268945" y="5308081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Progress</a:t>
            </a:r>
            <a:endParaRPr lang="en-US" sz="2000" dirty="0"/>
          </a:p>
        </p:txBody>
      </p:sp>
      <p:sp>
        <p:nvSpPr>
          <p:cNvPr id="135" name="Text 129"/>
          <p:cNvSpPr/>
          <p:nvPr/>
        </p:nvSpPr>
        <p:spPr>
          <a:xfrm>
            <a:off x="21104353" y="759866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 Dice = </a:t>
            </a:r>
            <a:r>
              <a:rPr lang="en-US" sz="14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0.8235 (epoch 150 / 150)</a:t>
            </a: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140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ReduceLROnPlateau</a:t>
            </a: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epochs 79, 93, 103</a:t>
            </a:r>
            <a:endParaRPr lang="en-US" sz="1400" dirty="0"/>
          </a:p>
        </p:txBody>
      </p:sp>
      <p:sp>
        <p:nvSpPr>
          <p:cNvPr id="136" name="Shape 130"/>
          <p:cNvSpPr/>
          <p:nvPr/>
        </p:nvSpPr>
        <p:spPr>
          <a:xfrm>
            <a:off x="21159216" y="8062722"/>
            <a:ext cx="5577840" cy="38633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1"/>
          <p:cNvSpPr/>
          <p:nvPr/>
        </p:nvSpPr>
        <p:spPr>
          <a:xfrm>
            <a:off x="21232368" y="7992477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 Counting Results (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dashboard)</a:t>
            </a:r>
            <a:endParaRPr lang="en-US" dirty="0"/>
          </a:p>
        </p:txBody>
      </p:sp>
      <p:sp>
        <p:nvSpPr>
          <p:cNvPr id="139" name="Shape 132"/>
          <p:cNvSpPr/>
          <p:nvPr/>
        </p:nvSpPr>
        <p:spPr>
          <a:xfrm>
            <a:off x="25703235" y="8531352"/>
            <a:ext cx="1014385" cy="2245075"/>
          </a:xfrm>
          <a:prstGeom prst="rect">
            <a:avLst/>
          </a:prstGeom>
          <a:solidFill>
            <a:srgbClr val="E3E5EA"/>
          </a:solidFill>
          <a:ln w="1016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3"/>
          <p:cNvSpPr/>
          <p:nvPr/>
        </p:nvSpPr>
        <p:spPr>
          <a:xfrm>
            <a:off x="25683210" y="8571928"/>
            <a:ext cx="1108710" cy="2204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Watershed reduces total error  </a:t>
            </a:r>
            <a:r>
              <a:rPr lang="en-US" sz="1800" b="1" dirty="0">
                <a:solidFill>
                  <a:srgbClr val="833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→ 14</a:t>
            </a: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(78% improvement over basic counting)</a:t>
            </a:r>
            <a:endParaRPr lang="en-US" sz="1500" dirty="0"/>
          </a:p>
        </p:txBody>
      </p:sp>
      <p:sp>
        <p:nvSpPr>
          <p:cNvPr id="141" name="Shape 134"/>
          <p:cNvSpPr/>
          <p:nvPr/>
        </p:nvSpPr>
        <p:spPr>
          <a:xfrm>
            <a:off x="27029664" y="1993392"/>
            <a:ext cx="557784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35"/>
          <p:cNvSpPr/>
          <p:nvPr/>
        </p:nvSpPr>
        <p:spPr>
          <a:xfrm>
            <a:off x="27139392" y="1993392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2000" dirty="0"/>
          </a:p>
        </p:txBody>
      </p:sp>
      <p:sp>
        <p:nvSpPr>
          <p:cNvPr id="143" name="Text 136"/>
          <p:cNvSpPr/>
          <p:nvPr/>
        </p:nvSpPr>
        <p:spPr>
          <a:xfrm>
            <a:off x="26962019" y="2520598"/>
            <a:ext cx="58704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trained model was deployed as a live </a:t>
            </a:r>
            <a:r>
              <a:rPr lang="en-US" sz="11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dashboard</a:t>
            </a: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accessible via public URL, enabling real-time bacterial analysis during the AI Exhibition on 21 April 2026.</a:t>
            </a:r>
            <a:endParaRPr lang="en-US" sz="1100" dirty="0"/>
          </a:p>
        </p:txBody>
      </p:sp>
      <p:sp>
        <p:nvSpPr>
          <p:cNvPr id="144" name="Shape 137"/>
          <p:cNvSpPr/>
          <p:nvPr/>
        </p:nvSpPr>
        <p:spPr>
          <a:xfrm>
            <a:off x="27075384" y="3022092"/>
            <a:ext cx="557784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38"/>
          <p:cNvSpPr/>
          <p:nvPr/>
        </p:nvSpPr>
        <p:spPr>
          <a:xfrm>
            <a:off x="27221688" y="3022092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Features</a:t>
            </a:r>
            <a:endParaRPr lang="en-US" sz="2000" dirty="0"/>
          </a:p>
        </p:txBody>
      </p:sp>
      <p:sp>
        <p:nvSpPr>
          <p:cNvPr id="146" name="Text 139"/>
          <p:cNvSpPr/>
          <p:nvPr/>
        </p:nvSpPr>
        <p:spPr>
          <a:xfrm>
            <a:off x="27071649" y="3535286"/>
            <a:ext cx="5453552" cy="21385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any .tif / .png / .jpg microscopy image for instant AI analysis</a:t>
            </a:r>
            <a:endParaRPr lang="en-US" sz="12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Adjustable detection threshold slider (0.1 – 0.9)</a:t>
            </a:r>
            <a:endParaRPr lang="en-US" sz="12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Three-panel view: original image | predicted mask | teal overlay</a:t>
            </a:r>
            <a:endParaRPr lang="en-US" sz="12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 count displayed using Watershed algorithm</a:t>
            </a:r>
            <a:endParaRPr lang="en-US" sz="12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formats: JSON results · CSV spreadsheet · Report PNG · Mask PNG</a:t>
            </a:r>
            <a:endParaRPr lang="en-US" sz="12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history: analyse and export multiple images at once</a:t>
            </a:r>
            <a:endParaRPr lang="en-US" sz="12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tab: training curves and counting comparison charts</a:t>
            </a:r>
            <a:endParaRPr lang="en-US" sz="1200" dirty="0"/>
          </a:p>
        </p:txBody>
      </p:sp>
      <p:sp>
        <p:nvSpPr>
          <p:cNvPr id="147" name="Shape 140"/>
          <p:cNvSpPr/>
          <p:nvPr/>
        </p:nvSpPr>
        <p:spPr>
          <a:xfrm>
            <a:off x="27029664" y="5779008"/>
            <a:ext cx="557784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1"/>
          <p:cNvSpPr/>
          <p:nvPr/>
        </p:nvSpPr>
        <p:spPr>
          <a:xfrm>
            <a:off x="27139392" y="5779008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Deliverables</a:t>
            </a:r>
            <a:endParaRPr lang="en-US" sz="2000" dirty="0"/>
          </a:p>
        </p:txBody>
      </p:sp>
      <p:sp>
        <p:nvSpPr>
          <p:cNvPr id="149" name="Shape 142"/>
          <p:cNvSpPr/>
          <p:nvPr/>
        </p:nvSpPr>
        <p:spPr>
          <a:xfrm>
            <a:off x="27029664" y="6345936"/>
            <a:ext cx="5577840" cy="457200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3"/>
          <p:cNvSpPr/>
          <p:nvPr/>
        </p:nvSpPr>
        <p:spPr>
          <a:xfrm>
            <a:off x="27084528" y="634593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U-Net Model</a:t>
            </a:r>
            <a:endParaRPr lang="en-US" sz="1300" dirty="0"/>
          </a:p>
        </p:txBody>
      </p:sp>
      <p:sp>
        <p:nvSpPr>
          <p:cNvPr id="151" name="Text 144"/>
          <p:cNvSpPr/>
          <p:nvPr/>
        </p:nvSpPr>
        <p:spPr>
          <a:xfrm>
            <a:off x="28785312" y="6345936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best_model.h5 — epoch 90, val Dice 0.8235</a:t>
            </a:r>
            <a:endParaRPr lang="en-US" sz="1250" dirty="0"/>
          </a:p>
        </p:txBody>
      </p:sp>
      <p:sp>
        <p:nvSpPr>
          <p:cNvPr id="152" name="Shape 145"/>
          <p:cNvSpPr/>
          <p:nvPr/>
        </p:nvSpPr>
        <p:spPr>
          <a:xfrm>
            <a:off x="31656528" y="6419088"/>
            <a:ext cx="987552" cy="310896"/>
          </a:xfrm>
          <a:prstGeom prst="rect">
            <a:avLst/>
          </a:prstGeom>
          <a:solidFill>
            <a:srgbClr val="E2EFDA"/>
          </a:solidFill>
          <a:ln w="635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46"/>
          <p:cNvSpPr/>
          <p:nvPr/>
        </p:nvSpPr>
        <p:spPr>
          <a:xfrm>
            <a:off x="31656528" y="6419088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54" name="Shape 147"/>
          <p:cNvSpPr/>
          <p:nvPr/>
        </p:nvSpPr>
        <p:spPr>
          <a:xfrm>
            <a:off x="27029664" y="6803136"/>
            <a:ext cx="5577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48"/>
          <p:cNvSpPr/>
          <p:nvPr/>
        </p:nvSpPr>
        <p:spPr>
          <a:xfrm>
            <a:off x="27084528" y="680313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Notebook</a:t>
            </a:r>
            <a:endParaRPr lang="en-US" sz="1300" dirty="0"/>
          </a:p>
        </p:txBody>
      </p:sp>
      <p:sp>
        <p:nvSpPr>
          <p:cNvPr id="156" name="Text 149"/>
          <p:cNvSpPr/>
          <p:nvPr/>
        </p:nvSpPr>
        <p:spPr>
          <a:xfrm>
            <a:off x="28785312" y="6803136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20-cell pipeline</a:t>
            </a:r>
            <a:endParaRPr lang="en-US" sz="1250" dirty="0"/>
          </a:p>
        </p:txBody>
      </p:sp>
      <p:sp>
        <p:nvSpPr>
          <p:cNvPr id="157" name="Shape 150"/>
          <p:cNvSpPr/>
          <p:nvPr/>
        </p:nvSpPr>
        <p:spPr>
          <a:xfrm>
            <a:off x="31656528" y="6876288"/>
            <a:ext cx="987552" cy="310896"/>
          </a:xfrm>
          <a:prstGeom prst="rect">
            <a:avLst/>
          </a:prstGeom>
          <a:solidFill>
            <a:srgbClr val="E2EFDA"/>
          </a:solidFill>
          <a:ln w="635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1"/>
          <p:cNvSpPr/>
          <p:nvPr/>
        </p:nvSpPr>
        <p:spPr>
          <a:xfrm>
            <a:off x="31656528" y="6876288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59" name="Shape 152"/>
          <p:cNvSpPr/>
          <p:nvPr/>
        </p:nvSpPr>
        <p:spPr>
          <a:xfrm>
            <a:off x="27029664" y="7260336"/>
            <a:ext cx="5577840" cy="457200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3"/>
          <p:cNvSpPr/>
          <p:nvPr/>
        </p:nvSpPr>
        <p:spPr>
          <a:xfrm>
            <a:off x="27084528" y="726033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</a:t>
            </a:r>
            <a:endParaRPr lang="en-US" sz="1300" dirty="0"/>
          </a:p>
        </p:txBody>
      </p:sp>
      <p:sp>
        <p:nvSpPr>
          <p:cNvPr id="161" name="Text 154"/>
          <p:cNvSpPr/>
          <p:nvPr/>
        </p:nvSpPr>
        <p:spPr>
          <a:xfrm>
            <a:off x="28785312" y="7260336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 (525 lines) — live exhibition URL</a:t>
            </a:r>
            <a:endParaRPr lang="en-US" sz="1250" dirty="0"/>
          </a:p>
        </p:txBody>
      </p:sp>
      <p:sp>
        <p:nvSpPr>
          <p:cNvPr id="162" name="Shape 155"/>
          <p:cNvSpPr/>
          <p:nvPr/>
        </p:nvSpPr>
        <p:spPr>
          <a:xfrm>
            <a:off x="31656528" y="7333488"/>
            <a:ext cx="987552" cy="310896"/>
          </a:xfrm>
          <a:prstGeom prst="rect">
            <a:avLst/>
          </a:prstGeom>
          <a:solidFill>
            <a:srgbClr val="E2EFDA"/>
          </a:solidFill>
          <a:ln w="635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56"/>
          <p:cNvSpPr/>
          <p:nvPr/>
        </p:nvSpPr>
        <p:spPr>
          <a:xfrm>
            <a:off x="31656528" y="7333488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64" name="Shape 157"/>
          <p:cNvSpPr/>
          <p:nvPr/>
        </p:nvSpPr>
        <p:spPr>
          <a:xfrm>
            <a:off x="27029664" y="7717536"/>
            <a:ext cx="5577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58"/>
          <p:cNvSpPr/>
          <p:nvPr/>
        </p:nvSpPr>
        <p:spPr>
          <a:xfrm>
            <a:off x="27084528" y="771753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PM Workbook</a:t>
            </a:r>
            <a:endParaRPr lang="en-US" sz="1300" dirty="0"/>
          </a:p>
        </p:txBody>
      </p:sp>
      <p:sp>
        <p:nvSpPr>
          <p:cNvPr id="166" name="Text 159"/>
          <p:cNvSpPr/>
          <p:nvPr/>
        </p:nvSpPr>
        <p:spPr>
          <a:xfrm>
            <a:off x="28785312" y="7717536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· Sprint Plan · Gantt · ROAM · Risks</a:t>
            </a:r>
            <a:endParaRPr lang="en-US" sz="1250" dirty="0"/>
          </a:p>
        </p:txBody>
      </p:sp>
      <p:sp>
        <p:nvSpPr>
          <p:cNvPr id="167" name="Shape 160"/>
          <p:cNvSpPr/>
          <p:nvPr/>
        </p:nvSpPr>
        <p:spPr>
          <a:xfrm>
            <a:off x="31656528" y="7790688"/>
            <a:ext cx="987552" cy="310896"/>
          </a:xfrm>
          <a:prstGeom prst="rect">
            <a:avLst/>
          </a:prstGeom>
          <a:solidFill>
            <a:srgbClr val="E2EFDA"/>
          </a:solidFill>
          <a:ln w="635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1"/>
          <p:cNvSpPr/>
          <p:nvPr/>
        </p:nvSpPr>
        <p:spPr>
          <a:xfrm>
            <a:off x="31656528" y="7790688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69" name="Shape 162"/>
          <p:cNvSpPr/>
          <p:nvPr/>
        </p:nvSpPr>
        <p:spPr>
          <a:xfrm>
            <a:off x="27029664" y="8174736"/>
            <a:ext cx="5577840" cy="457200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3"/>
          <p:cNvSpPr/>
          <p:nvPr/>
        </p:nvSpPr>
        <p:spPr>
          <a:xfrm>
            <a:off x="27084528" y="817473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Exhibition Poster</a:t>
            </a:r>
            <a:endParaRPr lang="en-US" sz="1300" dirty="0"/>
          </a:p>
        </p:txBody>
      </p:sp>
      <p:sp>
        <p:nvSpPr>
          <p:cNvPr id="171" name="Text 164"/>
          <p:cNvSpPr/>
          <p:nvPr/>
        </p:nvSpPr>
        <p:spPr>
          <a:xfrm>
            <a:off x="28785312" y="8174736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 poster — CDIO format</a:t>
            </a:r>
            <a:endParaRPr lang="en-US" sz="1250" dirty="0"/>
          </a:p>
        </p:txBody>
      </p:sp>
      <p:sp>
        <p:nvSpPr>
          <p:cNvPr id="172" name="Shape 165"/>
          <p:cNvSpPr/>
          <p:nvPr/>
        </p:nvSpPr>
        <p:spPr>
          <a:xfrm>
            <a:off x="31656528" y="8247888"/>
            <a:ext cx="987552" cy="310896"/>
          </a:xfrm>
          <a:prstGeom prst="rect">
            <a:avLst/>
          </a:prstGeom>
          <a:solidFill>
            <a:srgbClr val="E2EFDA"/>
          </a:solidFill>
          <a:ln w="635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166"/>
          <p:cNvSpPr/>
          <p:nvPr/>
        </p:nvSpPr>
        <p:spPr>
          <a:xfrm>
            <a:off x="31656528" y="8247888"/>
            <a:ext cx="987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84" name="Shape 177"/>
          <p:cNvSpPr/>
          <p:nvPr/>
        </p:nvSpPr>
        <p:spPr>
          <a:xfrm>
            <a:off x="26965656" y="8782812"/>
            <a:ext cx="557784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Text 178"/>
          <p:cNvSpPr/>
          <p:nvPr/>
        </p:nvSpPr>
        <p:spPr>
          <a:xfrm>
            <a:off x="27111960" y="8782812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2000" dirty="0"/>
          </a:p>
        </p:txBody>
      </p:sp>
      <p:sp>
        <p:nvSpPr>
          <p:cNvPr id="186" name="Text 179"/>
          <p:cNvSpPr/>
          <p:nvPr/>
        </p:nvSpPr>
        <p:spPr>
          <a:xfrm>
            <a:off x="26883360" y="9299448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Score ≥ 0.80:  </a:t>
            </a:r>
            <a:r>
              <a:rPr lang="en-US" sz="14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0.8235 achieved</a:t>
            </a:r>
            <a:endParaRPr lang="en-US" sz="1400" dirty="0"/>
          </a:p>
        </p:txBody>
      </p:sp>
      <p:sp>
        <p:nvSpPr>
          <p:cNvPr id="187" name="Text 180"/>
          <p:cNvSpPr/>
          <p:nvPr/>
        </p:nvSpPr>
        <p:spPr>
          <a:xfrm>
            <a:off x="26883360" y="9482328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segmentation:  </a:t>
            </a:r>
            <a:r>
              <a:rPr lang="en-US" sz="14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81.1% Dice</a:t>
            </a:r>
            <a:endParaRPr lang="en-US" sz="1400" dirty="0"/>
          </a:p>
        </p:txBody>
      </p:sp>
      <p:sp>
        <p:nvSpPr>
          <p:cNvPr id="188" name="Text 181"/>
          <p:cNvSpPr/>
          <p:nvPr/>
        </p:nvSpPr>
        <p:spPr>
          <a:xfrm>
            <a:off x="26874216" y="9708642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accuracy improved:  </a:t>
            </a:r>
            <a:r>
              <a:rPr lang="en-US" sz="14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78% error reduction</a:t>
            </a:r>
            <a:endParaRPr lang="en-US" sz="1400" dirty="0"/>
          </a:p>
        </p:txBody>
      </p:sp>
      <p:sp>
        <p:nvSpPr>
          <p:cNvPr id="189" name="Text 182"/>
          <p:cNvSpPr/>
          <p:nvPr/>
        </p:nvSpPr>
        <p:spPr>
          <a:xfrm>
            <a:off x="26874216" y="9952234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works in demo:  </a:t>
            </a:r>
            <a:r>
              <a:rPr lang="en-US" sz="14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URL deployed</a:t>
            </a:r>
            <a:endParaRPr lang="en-US" sz="1400" dirty="0"/>
          </a:p>
        </p:txBody>
      </p:sp>
      <p:sp>
        <p:nvSpPr>
          <p:cNvPr id="190" name="Text 183"/>
          <p:cNvSpPr/>
          <p:nvPr/>
        </p:nvSpPr>
        <p:spPr>
          <a:xfrm>
            <a:off x="26874216" y="10213848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clearly presented:  </a:t>
            </a:r>
            <a:r>
              <a:rPr lang="en-US" sz="14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Poster + Dashboard</a:t>
            </a:r>
            <a:endParaRPr lang="en-US" sz="1400" dirty="0"/>
          </a:p>
        </p:txBody>
      </p:sp>
      <p:sp>
        <p:nvSpPr>
          <p:cNvPr id="191" name="Shape 184"/>
          <p:cNvSpPr/>
          <p:nvPr/>
        </p:nvSpPr>
        <p:spPr>
          <a:xfrm>
            <a:off x="9326880" y="10917936"/>
            <a:ext cx="7808976" cy="5376672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85"/>
          <p:cNvSpPr/>
          <p:nvPr/>
        </p:nvSpPr>
        <p:spPr>
          <a:xfrm>
            <a:off x="17135856" y="10917936"/>
            <a:ext cx="7808976" cy="5376672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86"/>
          <p:cNvSpPr/>
          <p:nvPr/>
        </p:nvSpPr>
        <p:spPr>
          <a:xfrm>
            <a:off x="35850224" y="23198327"/>
            <a:ext cx="2614379" cy="38927105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87"/>
          <p:cNvSpPr/>
          <p:nvPr/>
        </p:nvSpPr>
        <p:spPr>
          <a:xfrm>
            <a:off x="9418320" y="10917936"/>
            <a:ext cx="7626096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188"/>
          <p:cNvSpPr/>
          <p:nvPr/>
        </p:nvSpPr>
        <p:spPr>
          <a:xfrm>
            <a:off x="9528048" y="10917936"/>
            <a:ext cx="7479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Implications and Future Improvements</a:t>
            </a:r>
            <a:endParaRPr lang="en-US" sz="2000" dirty="0"/>
          </a:p>
        </p:txBody>
      </p:sp>
      <p:sp>
        <p:nvSpPr>
          <p:cNvPr id="196" name="Text 189"/>
          <p:cNvSpPr/>
          <p:nvPr/>
        </p:nvSpPr>
        <p:spPr>
          <a:xfrm>
            <a:off x="9491472" y="11484864"/>
            <a:ext cx="7479792" cy="4718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safety: This is a research prototype — clinical deployment requires extensive prospective trials, regulatory approval, and independent validation before use</a:t>
            </a:r>
            <a:endParaRPr lang="en-US" sz="15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compliance: DeepBacs dataset contains no patient-identifiable information; all images are from a controlled laboratory setting with open-access licensing</a:t>
            </a:r>
            <a:endParaRPr lang="en-US" sz="15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bias: Model trained on a single protocol (JE2 strain, Nile Red stain) — performance may degrade with different microscopes, stains, or bacterial species</a:t>
            </a:r>
            <a:endParaRPr lang="en-US" sz="15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Transparency: Confidence scores displayed alongside all predictions; AI must augment clinician judgement, not replace it</a:t>
            </a:r>
            <a:endParaRPr lang="en-US" sz="15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Act: If deployed clinically, this would be classified as high-risk AI under medical device provisions — requiring conformity assessment and registration</a:t>
            </a:r>
            <a:endParaRPr lang="en-US" sz="15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Sustainability: Free Google Colab T4 GPU used for training — minimal energy footprint relative to commercial AI infrastructure</a:t>
            </a:r>
            <a:endParaRPr lang="en-US" sz="15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improvements: Multi-species detection · Edge deployment (model quantisation) · Clinical LIS integration · Real-time video microscopy analysis · Prospective clinical validation study</a:t>
            </a:r>
            <a:endParaRPr lang="en-US" sz="1500" dirty="0"/>
          </a:p>
        </p:txBody>
      </p:sp>
      <p:sp>
        <p:nvSpPr>
          <p:cNvPr id="197" name="Shape 190"/>
          <p:cNvSpPr/>
          <p:nvPr/>
        </p:nvSpPr>
        <p:spPr>
          <a:xfrm>
            <a:off x="17227296" y="10917936"/>
            <a:ext cx="7626096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Text 191"/>
          <p:cNvSpPr/>
          <p:nvPr/>
        </p:nvSpPr>
        <p:spPr>
          <a:xfrm>
            <a:off x="17337024" y="10917936"/>
            <a:ext cx="7479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Research Details</a:t>
            </a:r>
            <a:endParaRPr lang="en-US" sz="2000" dirty="0"/>
          </a:p>
        </p:txBody>
      </p:sp>
      <p:sp>
        <p:nvSpPr>
          <p:cNvPr id="199" name="Shape 192"/>
          <p:cNvSpPr/>
          <p:nvPr/>
        </p:nvSpPr>
        <p:spPr>
          <a:xfrm>
            <a:off x="17227296" y="11484864"/>
            <a:ext cx="7626096" cy="438912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Text 193"/>
          <p:cNvSpPr/>
          <p:nvPr/>
        </p:nvSpPr>
        <p:spPr>
          <a:xfrm>
            <a:off x="17282160" y="11484864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</a:t>
            </a:r>
            <a:endParaRPr lang="en-US" sz="1400" dirty="0"/>
          </a:p>
        </p:txBody>
      </p:sp>
      <p:sp>
        <p:nvSpPr>
          <p:cNvPr id="201" name="Text 194"/>
          <p:cNvSpPr/>
          <p:nvPr/>
        </p:nvSpPr>
        <p:spPr>
          <a:xfrm>
            <a:off x="18726912" y="11484864"/>
            <a:ext cx="59801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Staphylococcus aureus (JE2 strain)</a:t>
            </a:r>
            <a:endParaRPr lang="en-US" sz="1400" dirty="0"/>
          </a:p>
        </p:txBody>
      </p:sp>
      <p:sp>
        <p:nvSpPr>
          <p:cNvPr id="202" name="Shape 195"/>
          <p:cNvSpPr/>
          <p:nvPr/>
        </p:nvSpPr>
        <p:spPr>
          <a:xfrm>
            <a:off x="17227296" y="11923776"/>
            <a:ext cx="7626096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Text 196"/>
          <p:cNvSpPr/>
          <p:nvPr/>
        </p:nvSpPr>
        <p:spPr>
          <a:xfrm>
            <a:off x="17282160" y="11923776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Stain</a:t>
            </a:r>
            <a:endParaRPr lang="en-US" sz="1400" dirty="0"/>
          </a:p>
        </p:txBody>
      </p:sp>
      <p:sp>
        <p:nvSpPr>
          <p:cNvPr id="204" name="Text 197"/>
          <p:cNvSpPr/>
          <p:nvPr/>
        </p:nvSpPr>
        <p:spPr>
          <a:xfrm>
            <a:off x="18726912" y="11923776"/>
            <a:ext cx="59801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Nile Red fluorescent dye</a:t>
            </a:r>
            <a:endParaRPr lang="en-US" sz="1400" dirty="0"/>
          </a:p>
        </p:txBody>
      </p:sp>
      <p:sp>
        <p:nvSpPr>
          <p:cNvPr id="205" name="Shape 198"/>
          <p:cNvSpPr/>
          <p:nvPr/>
        </p:nvSpPr>
        <p:spPr>
          <a:xfrm>
            <a:off x="17227296" y="12362688"/>
            <a:ext cx="7626096" cy="438912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Text 199"/>
          <p:cNvSpPr/>
          <p:nvPr/>
        </p:nvSpPr>
        <p:spPr>
          <a:xfrm>
            <a:off x="17282160" y="123626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00" dirty="0"/>
          </a:p>
        </p:txBody>
      </p:sp>
      <p:sp>
        <p:nvSpPr>
          <p:cNvPr id="207" name="Text 200"/>
          <p:cNvSpPr/>
          <p:nvPr/>
        </p:nvSpPr>
        <p:spPr>
          <a:xfrm>
            <a:off x="18726912" y="12362688"/>
            <a:ext cx="59801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.tif (TIFF), 256×256 pixels, greyscale</a:t>
            </a:r>
            <a:endParaRPr lang="en-US" sz="1400" dirty="0"/>
          </a:p>
        </p:txBody>
      </p:sp>
      <p:sp>
        <p:nvSpPr>
          <p:cNvPr id="208" name="Shape 201"/>
          <p:cNvSpPr/>
          <p:nvPr/>
        </p:nvSpPr>
        <p:spPr>
          <a:xfrm>
            <a:off x="17227296" y="12801600"/>
            <a:ext cx="7626096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Text 202"/>
          <p:cNvSpPr/>
          <p:nvPr/>
        </p:nvSpPr>
        <p:spPr>
          <a:xfrm>
            <a:off x="17282160" y="1280160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00" dirty="0"/>
          </a:p>
        </p:txBody>
      </p:sp>
      <p:sp>
        <p:nvSpPr>
          <p:cNvPr id="210" name="Text 203"/>
          <p:cNvSpPr/>
          <p:nvPr/>
        </p:nvSpPr>
        <p:spPr>
          <a:xfrm>
            <a:off x="18726912" y="12801600"/>
            <a:ext cx="59801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image-mask pairs (brightfield patches)</a:t>
            </a:r>
            <a:endParaRPr lang="en-US" sz="1400" dirty="0"/>
          </a:p>
        </p:txBody>
      </p:sp>
      <p:sp>
        <p:nvSpPr>
          <p:cNvPr id="211" name="Shape 204"/>
          <p:cNvSpPr/>
          <p:nvPr/>
        </p:nvSpPr>
        <p:spPr>
          <a:xfrm>
            <a:off x="17227296" y="13240512"/>
            <a:ext cx="7626096" cy="438912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205"/>
          <p:cNvSpPr/>
          <p:nvPr/>
        </p:nvSpPr>
        <p:spPr>
          <a:xfrm>
            <a:off x="17282160" y="1324051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sp>
        <p:nvSpPr>
          <p:cNvPr id="213" name="Text 206"/>
          <p:cNvSpPr/>
          <p:nvPr/>
        </p:nvSpPr>
        <p:spPr>
          <a:xfrm>
            <a:off x="18726912" y="13240512"/>
            <a:ext cx="59801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unseen full images with ground truth masks</a:t>
            </a:r>
            <a:endParaRPr lang="en-US" sz="1400" dirty="0"/>
          </a:p>
        </p:txBody>
      </p:sp>
      <p:sp>
        <p:nvSpPr>
          <p:cNvPr id="214" name="Shape 207"/>
          <p:cNvSpPr/>
          <p:nvPr/>
        </p:nvSpPr>
        <p:spPr>
          <a:xfrm>
            <a:off x="17227296" y="13679424"/>
            <a:ext cx="7626096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Text 208"/>
          <p:cNvSpPr/>
          <p:nvPr/>
        </p:nvSpPr>
        <p:spPr>
          <a:xfrm>
            <a:off x="17282160" y="13679424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</a:t>
            </a:r>
            <a:endParaRPr lang="en-US" sz="1400" dirty="0"/>
          </a:p>
        </p:txBody>
      </p:sp>
      <p:sp>
        <p:nvSpPr>
          <p:cNvPr id="216" name="Text 209"/>
          <p:cNvSpPr/>
          <p:nvPr/>
        </p:nvSpPr>
        <p:spPr>
          <a:xfrm>
            <a:off x="18726912" y="13679424"/>
            <a:ext cx="59801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samples (horizontal + vertical flip, 3×)</a:t>
            </a:r>
            <a:endParaRPr lang="en-US" sz="1400" dirty="0"/>
          </a:p>
        </p:txBody>
      </p:sp>
      <p:sp>
        <p:nvSpPr>
          <p:cNvPr id="217" name="Shape 210"/>
          <p:cNvSpPr/>
          <p:nvPr/>
        </p:nvSpPr>
        <p:spPr>
          <a:xfrm>
            <a:off x="17227296" y="14118336"/>
            <a:ext cx="7626096" cy="438912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211"/>
          <p:cNvSpPr/>
          <p:nvPr/>
        </p:nvSpPr>
        <p:spPr>
          <a:xfrm>
            <a:off x="17282160" y="14118336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400" dirty="0"/>
          </a:p>
        </p:txBody>
      </p:sp>
      <p:sp>
        <p:nvSpPr>
          <p:cNvPr id="219" name="Text 212"/>
          <p:cNvSpPr/>
          <p:nvPr/>
        </p:nvSpPr>
        <p:spPr>
          <a:xfrm>
            <a:off x="18726912" y="14118336"/>
            <a:ext cx="59801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training / 17 validation (80/20, random_state=42)</a:t>
            </a:r>
            <a:endParaRPr lang="en-US" sz="1400" dirty="0"/>
          </a:p>
        </p:txBody>
      </p:sp>
      <p:sp>
        <p:nvSpPr>
          <p:cNvPr id="220" name="Shape 213"/>
          <p:cNvSpPr/>
          <p:nvPr/>
        </p:nvSpPr>
        <p:spPr>
          <a:xfrm>
            <a:off x="17227296" y="14557248"/>
            <a:ext cx="7626096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 214"/>
          <p:cNvSpPr/>
          <p:nvPr/>
        </p:nvSpPr>
        <p:spPr>
          <a:xfrm>
            <a:off x="17282160" y="1455724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Masks</a:t>
            </a:r>
            <a:endParaRPr lang="en-US" sz="1400" dirty="0"/>
          </a:p>
        </p:txBody>
      </p:sp>
      <p:sp>
        <p:nvSpPr>
          <p:cNvPr id="222" name="Text 215"/>
          <p:cNvSpPr/>
          <p:nvPr/>
        </p:nvSpPr>
        <p:spPr>
          <a:xfrm>
            <a:off x="18726912" y="14557248"/>
            <a:ext cx="59801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1 = bacteria pixel, 0 = background</a:t>
            </a:r>
            <a:endParaRPr lang="en-US" sz="1400" dirty="0"/>
          </a:p>
        </p:txBody>
      </p:sp>
      <p:sp>
        <p:nvSpPr>
          <p:cNvPr id="223" name="Shape 216"/>
          <p:cNvSpPr/>
          <p:nvPr/>
        </p:nvSpPr>
        <p:spPr>
          <a:xfrm>
            <a:off x="17227296" y="14996160"/>
            <a:ext cx="7626096" cy="438912"/>
          </a:xfrm>
          <a:prstGeom prst="rect">
            <a:avLst/>
          </a:prstGeom>
          <a:solidFill>
            <a:srgbClr val="E3E5EA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217"/>
          <p:cNvSpPr/>
          <p:nvPr/>
        </p:nvSpPr>
        <p:spPr>
          <a:xfrm>
            <a:off x="17282160" y="1499616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225" name="Text 218"/>
          <p:cNvSpPr/>
          <p:nvPr/>
        </p:nvSpPr>
        <p:spPr>
          <a:xfrm>
            <a:off x="18726912" y="14996160"/>
            <a:ext cx="59801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2.19 / Keras  |  Python 3.12</a:t>
            </a:r>
            <a:endParaRPr lang="en-US" sz="1400" dirty="0"/>
          </a:p>
        </p:txBody>
      </p:sp>
      <p:sp>
        <p:nvSpPr>
          <p:cNvPr id="226" name="Shape 219"/>
          <p:cNvSpPr/>
          <p:nvPr/>
        </p:nvSpPr>
        <p:spPr>
          <a:xfrm>
            <a:off x="17227296" y="15435072"/>
            <a:ext cx="7626096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Text 220"/>
          <p:cNvSpPr/>
          <p:nvPr/>
        </p:nvSpPr>
        <p:spPr>
          <a:xfrm>
            <a:off x="17282160" y="1543507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400" dirty="0"/>
          </a:p>
        </p:txBody>
      </p:sp>
      <p:sp>
        <p:nvSpPr>
          <p:cNvPr id="228" name="Text 221"/>
          <p:cNvSpPr/>
          <p:nvPr/>
        </p:nvSpPr>
        <p:spPr>
          <a:xfrm>
            <a:off x="18726912" y="15435072"/>
            <a:ext cx="59801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NVIDIA T4 GPU  |  ~1hr 47min training</a:t>
            </a:r>
            <a:endParaRPr lang="en-US" sz="1400" dirty="0"/>
          </a:p>
        </p:txBody>
      </p:sp>
      <p:sp>
        <p:nvSpPr>
          <p:cNvPr id="229" name="Shape 222"/>
          <p:cNvSpPr/>
          <p:nvPr/>
        </p:nvSpPr>
        <p:spPr>
          <a:xfrm>
            <a:off x="24917400" y="10917936"/>
            <a:ext cx="7836408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Text 223"/>
          <p:cNvSpPr/>
          <p:nvPr/>
        </p:nvSpPr>
        <p:spPr>
          <a:xfrm>
            <a:off x="25063704" y="10909363"/>
            <a:ext cx="7479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</a:t>
            </a:r>
            <a:endParaRPr lang="en-US" sz="2000" dirty="0"/>
          </a:p>
        </p:txBody>
      </p:sp>
      <p:sp>
        <p:nvSpPr>
          <p:cNvPr id="237" name="Shape 230"/>
          <p:cNvSpPr/>
          <p:nvPr/>
        </p:nvSpPr>
        <p:spPr>
          <a:xfrm>
            <a:off x="25027128" y="14584680"/>
            <a:ext cx="7626096" cy="804672"/>
          </a:xfrm>
          <a:prstGeom prst="rect">
            <a:avLst/>
          </a:prstGeom>
          <a:solidFill>
            <a:srgbClr val="DEEAF1"/>
          </a:solidFill>
          <a:ln w="1016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Text 231"/>
          <p:cNvSpPr/>
          <p:nvPr/>
        </p:nvSpPr>
        <p:spPr>
          <a:xfrm>
            <a:off x="24953835" y="14584680"/>
            <a:ext cx="74797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Acknowledgments
</a:t>
            </a: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Kulvinder Panesar (Supervisor)  ·  Dr Maria Katsikogianni (Client)  ·  University of Bradford, Faculty of Engineering and Informatics  ·  COS6032-E Module Team</a:t>
            </a:r>
            <a:endParaRPr lang="en-US" sz="1500" dirty="0"/>
          </a:p>
        </p:txBody>
      </p:sp>
      <p:sp>
        <p:nvSpPr>
          <p:cNvPr id="239" name="Shape 232"/>
          <p:cNvSpPr/>
          <p:nvPr/>
        </p:nvSpPr>
        <p:spPr>
          <a:xfrm>
            <a:off x="0" y="16130016"/>
            <a:ext cx="32918400" cy="33141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0" name="Text 233"/>
          <p:cNvSpPr/>
          <p:nvPr/>
        </p:nvSpPr>
        <p:spPr>
          <a:xfrm>
            <a:off x="0" y="16140522"/>
            <a:ext cx="32918400" cy="31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COS6032-E Industrial AI Project  |  University of Bradford  |  EP7 Group: Kiran Nyaupane · Bandika Dhital · Jenish Dani  |  Supervisor: Dr Kulvinder Panesar  |  Client: Dr Maria Katsikogianni  |  April 2026</a:t>
            </a:r>
            <a:endParaRPr lang="en-US" sz="1200" dirty="0"/>
          </a:p>
        </p:txBody>
      </p:sp>
      <p:pic>
        <p:nvPicPr>
          <p:cNvPr id="243" name="Picture 242" descr="A close up of a cell&#10;&#10;AI-generated content may be incorrect.">
            <a:extLst>
              <a:ext uri="{FF2B5EF4-FFF2-40B4-BE49-F238E27FC236}">
                <a16:creationId xmlns:a16="http://schemas.microsoft.com/office/drawing/2014/main" id="{41121585-B772-7B14-A4E9-E92190CF3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2910" y="6317770"/>
            <a:ext cx="5524329" cy="2100609"/>
          </a:xfrm>
          <a:prstGeom prst="rect">
            <a:avLst/>
          </a:prstGeom>
        </p:spPr>
      </p:pic>
      <p:pic>
        <p:nvPicPr>
          <p:cNvPr id="245" name="Picture 244" descr="A graph of a graph showing a line graph&#10;&#10;AI-generated content may be incorrect.">
            <a:extLst>
              <a:ext uri="{FF2B5EF4-FFF2-40B4-BE49-F238E27FC236}">
                <a16:creationId xmlns:a16="http://schemas.microsoft.com/office/drawing/2014/main" id="{303BF7B1-E2D6-934B-2E0E-1D2D55B8EE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40927" y="5786217"/>
            <a:ext cx="5604852" cy="1804191"/>
          </a:xfrm>
          <a:prstGeom prst="rect">
            <a:avLst/>
          </a:prstGeom>
        </p:spPr>
      </p:pic>
      <p:pic>
        <p:nvPicPr>
          <p:cNvPr id="247" name="Picture 2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4F3A9A-9B09-C7CB-1E5E-1486D236FB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22640" y="8533991"/>
            <a:ext cx="4538773" cy="2223576"/>
          </a:xfrm>
          <a:prstGeom prst="rect">
            <a:avLst/>
          </a:prstGeom>
        </p:spPr>
      </p:pic>
      <p:pic>
        <p:nvPicPr>
          <p:cNvPr id="251" name="Picture 25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8B89B13-4BAE-B564-8D32-B9A1E42D755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80228"/>
          <a:stretch>
            <a:fillRect/>
          </a:stretch>
        </p:blipFill>
        <p:spPr>
          <a:xfrm>
            <a:off x="215235" y="575203"/>
            <a:ext cx="794826" cy="775518"/>
          </a:xfrm>
          <a:prstGeom prst="rect">
            <a:avLst/>
          </a:prstGeom>
        </p:spPr>
      </p:pic>
      <p:pic>
        <p:nvPicPr>
          <p:cNvPr id="253" name="Picture 252" descr="A magnifying glass with bacteria under it&#10;&#10;AI-generated content may be incorrect.">
            <a:extLst>
              <a:ext uri="{FF2B5EF4-FFF2-40B4-BE49-F238E27FC236}">
                <a16:creationId xmlns:a16="http://schemas.microsoft.com/office/drawing/2014/main" id="{DA8E5249-F713-AE18-5CEF-988EA4320A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117333"/>
            <a:ext cx="2422272" cy="1756674"/>
          </a:xfrm>
          <a:prstGeom prst="rect">
            <a:avLst/>
          </a:prstGeom>
        </p:spPr>
      </p:pic>
      <p:pic>
        <p:nvPicPr>
          <p:cNvPr id="255" name="Picture 254" descr="A magnifying glass with bacteria under it&#10;&#10;AI-generated content may be incorrect.">
            <a:extLst>
              <a:ext uri="{FF2B5EF4-FFF2-40B4-BE49-F238E27FC236}">
                <a16:creationId xmlns:a16="http://schemas.microsoft.com/office/drawing/2014/main" id="{24E9F1E8-015D-9C64-9A4D-1EF1922D6B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84887" y="129672"/>
            <a:ext cx="2384474" cy="1729262"/>
          </a:xfrm>
          <a:prstGeom prst="rect">
            <a:avLst/>
          </a:prstGeom>
        </p:spPr>
      </p:pic>
      <p:sp>
        <p:nvSpPr>
          <p:cNvPr id="257" name="Rectangle 2">
            <a:extLst>
              <a:ext uri="{FF2B5EF4-FFF2-40B4-BE49-F238E27FC236}">
                <a16:creationId xmlns:a16="http://schemas.microsoft.com/office/drawing/2014/main" id="{BC69B493-56B9-05D7-08B8-D61E2E987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11125" y="11504791"/>
            <a:ext cx="7742683" cy="2961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Kim, M.J., Park, J., Kang, M., Jeong, U., Jeong, D., Kang, N.-G., Hwang, S.J., Youn, S.H., Hwang, B.K., Hyun, Y. and Kim, D. (2023). Bacteria detection and species identification at the single-cell level using super-resolution fluorescence imaging and AI analysis. 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Biosensors and Bioelectronics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[online] 240, p.115603.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doi:https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://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doi.org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/10.1016/j.bios.2023.115603.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Lee, S., Park, J.S., Hong, J.H., Woo, H., Lee, C., Yoon, J.H., Lee, K.-B., Chung, S., Yoon, D.S. and Lee, J.H. (2025). Artificial Intelligence in Bacterial Diagnostics and Antimicrobial Susceptibility Testing: Current Advances and Future Prospects. 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Biosensors and Bioelectronics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p.117399.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doi:https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://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doi.org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/10.1016/j.bios.2025.117399.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Ronneberger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O., Fischer, P. and Brox, T. (2015). U-Net: Convolutional Networks for Biomedical Image Segmentation. 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Lecture Notes in Computer Science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9351, pp.234–241.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doi:https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://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doi.org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/10.1007/978-3-319-24574-4_28.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World Health Organization (2017). 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WHO publishes list of bacteria for which new antibiotics are urgently needed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World Health Organization.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1718</Words>
  <Application>Microsoft Macintosh PowerPoint</Application>
  <PresentationFormat>Custom</PresentationFormat>
  <Paragraphs>166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Nyaupane</cp:lastModifiedBy>
  <cp:revision>6</cp:revision>
  <dcterms:created xsi:type="dcterms:W3CDTF">2026-04-16T11:20:30Z</dcterms:created>
  <dcterms:modified xsi:type="dcterms:W3CDTF">2026-04-17T00:34:06Z</dcterms:modified>
</cp:coreProperties>
</file>